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48495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0A5FA"/>
                </a:solidFill>
              </a:defRPr>
            </a:pPr>
            <a:r>
              <a:t>PRODAPT / PU BOOTCAMP CAPSTONE PROJECT SUBMISSION</a:t>
            </a:r>
          </a:p>
          <a:p>
            <a:pPr>
              <a:spcAft>
                <a:spcPts val="1000"/>
              </a:spcAft>
              <a:defRPr sz="3200" b="1">
                <a:solidFill>
                  <a:srgbClr val="FFFFFF"/>
                </a:solidFill>
              </a:defRPr>
            </a:pPr>
            <a:r>
              <a:t>ClaimLens — AI-Powered Insurance Claims Assistant</a:t>
            </a:r>
          </a:p>
          <a:p>
            <a:pPr>
              <a:spcAft>
                <a:spcPts val="2000"/>
              </a:spcAft>
              <a:defRPr sz="1400">
                <a:solidFill>
                  <a:srgbClr val="CBD5E1"/>
                </a:solidFill>
              </a:defRPr>
            </a:pPr>
            <a:r>
              <a:t>Enterprise Claims Triaging, Hybrid Precedent RAG, Calibrated Fraud Scoring, and Multi-Agent Settlement Automation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Candidate: Ayush Kumar | Repository: Ayushk3001/claimlens | Domain: Property &amp; Casualty Insurance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3C5FD"/>
                </a:solidFill>
              </a:defRPr>
            </a:pPr>
            <a:r>
              <a:t>CAPSTONE PROJECT: CLAIMLENS AI CLAIMS ASSISTANT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Business Problem &amp; Solution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120640" cy="4937760"/>
          </a:xfrm>
          <a:prstGeom prst="rect">
            <a:avLst/>
          </a:prstGeom>
          <a:solidFill>
            <a:srgbClr val="FEF2F2"/>
          </a:solidFill>
          <a:ln w="1905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Industry Pain Points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Manual triage results in 18–35 day claim resolution cycles.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Over $308 Billion in annual insurance fraud leakage across US carriers.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Inconsistent adjuster settlement payouts lacking historical peer alignment.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Disjointed claims data silos and unstructured loss notes prevent automation.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120640" cy="4937760"/>
          </a:xfrm>
          <a:prstGeom prst="rect">
            <a:avLst/>
          </a:prstGeom>
          <a:solidFill>
            <a:srgbClr val="EFF6FF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ClaimLens AI Objectives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Automate fast-track auto-approval for low-risk routine fender-benders (&lt;$5k).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Perform sub-3ms hybrid precedent search across historical peer cases.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Provide dual-probability fraud scoring (Random Forest + Platt calibration).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Enforce strict financial settlement invariants via multi-agent supervision.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3C5FD"/>
                </a:solidFill>
              </a:defRPr>
            </a:pPr>
            <a:r>
              <a:t>CAPSTONE PROJECT: CLAIMLENS AI CLAIMS ASSISTANT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ClaimLens — End-to-End System Architecture</a:t>
            </a:r>
          </a:p>
        </p:txBody>
      </p:sp>
      <p:pic>
        <p:nvPicPr>
          <p:cNvPr id="4" name="Picture 3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7498079" cy="499262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321040" y="1371600"/>
            <a:ext cx="3291840" cy="4992624"/>
          </a:xfrm>
          <a:prstGeom prst="rect">
            <a:avLst/>
          </a:prstGeom>
          <a:solidFill>
            <a:srgbClr val="F3E8FF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19" y="1554480"/>
            <a:ext cx="2926080" cy="4626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8 Core Subsystems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1. Client UI &amp; External API Calls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2. FastAPI Gateway (Port 8000)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3. Input Validation &amp; Guardrails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4. Multi-Agent Reasoning Engine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5. Parquet &amp; In-Memory Vector Layer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6. Hybrid RAG (BM25 + Dense RRF)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7. Calibrated Random Forests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8. MLOps Retraining Feedback Loop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3C5FD"/>
                </a:solidFill>
              </a:defRPr>
            </a:pPr>
            <a:r>
              <a:t>CAPSTONE PROJECT: CLAIMLENS AI CLAIMS ASSISTANT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Hybrid RAG Pipeline &amp; Measured Performance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120640" cy="49377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Hybrid Retrieval Architecture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Dense In-Memory Cosine Vector Engine (exact dot product).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Sparse BM25Okapi token matching across incident narratives.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Reciprocal Rank Fusion (RRF) with semantic (0.6) / lexical (0.4) weights.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Rich dynamic metadata filters: Claim Type, State, Amount, Prior Claims.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Zero Windows SQLite locking or crash issues via pure NumPy matrix math.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120640" cy="4937760"/>
          </a:xfrm>
          <a:prstGeom prst="rect">
            <a:avLst/>
          </a:prstGeom>
          <a:solidFill>
            <a:srgbClr val="ECFDF5"/>
          </a:solidFill>
          <a:ln w="1905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Empirical Benchmark Results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NumPy Matrix Cosine Search: 3.08 ms median.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BM25Okapi Keyword Search: 10.22 ms median.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Internal Hybrid RRF Fusion: 13.52 ms median (excluding network).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End-to-End Hybrid Search (Live API): 303.6 ms median roundtrip.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Measured with warmup exclusion and saved to docs/latency_benchmark.json.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3C5FD"/>
                </a:solidFill>
              </a:defRPr>
            </a:pPr>
            <a:r>
              <a:t>CAPSTONE PROJECT: CLAIMLENS AI CLAIMS ASSISTANT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Multi-Agent Decisioning &amp; Underwriting Policy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120640" cy="49377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4-Stage Sequential Agents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Stage 1: Classification &amp; Triage Agent assigns SLA priority (P1-P4).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Stage 2: Investigation Agent retrieves peer claim precedent clusters.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Stage 3: Risk Assessment Agent synthesizes calibrated ML fraud drivers.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Stage 4: Recommendation Agent establishes settlement checklist &amp; net ceiling.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Supervisor: Independent LLM-as-Judge audits invariant adherence.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120640" cy="4937760"/>
          </a:xfrm>
          <a:prstGeom prst="rect">
            <a:avLst/>
          </a:prstGeom>
          <a:solidFill>
            <a:srgbClr val="FEF3C7"/>
          </a:solidFill>
          <a:ln w="1905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Dual-Probability Underwriting Policy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Low Risk (&lt;8.5% Calibrated, &lt;38% Raw): AUTO_APPROVE eligible if loss &lt;=$5k.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Moderate Risk (&gt;=8.5% Calibrated, &gt;=38% Raw, &gt;$10k loss): MANUAL_REVIEW.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High Risk (&gt;=18% Calibrated, &gt;=45% Raw): SIU_REFERRAL with $0 payout.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Strict Financial Invariant: Net ceiling = max(0, Claim Amount - Deductible).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Zero False Negatives on critical fraud indicators.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3C5FD"/>
                </a:solidFill>
              </a:defRPr>
            </a:pPr>
            <a:r>
              <a:t>CAPSTONE PROJECT: CLAIMLENS AI CLAIMS ASSISTANT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Evaluation Results (LLM-as-Judge Grade: EXCELLENT (A+))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120640" cy="4937760"/>
          </a:xfrm>
          <a:prstGeom prst="rect">
            <a:avLst/>
          </a:prstGeom>
          <a:solidFill>
            <a:srgbClr val="F0FDF4"/>
          </a:solidFill>
          <a:ln w="1905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Quantitative Metric Highlights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Judge Faithfulness: 95.0% (Factual claim grounding).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Judge Completeness: 90.0% (Actionable handling steps).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Underwriting Policy Compliance: 95.0% (Adherence to bounds).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LLM-as-Judge Audit Score: 9.3 / 10.0 (EXCELLENT (A+)).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Guardrail Security: 100% Prompt Injection &amp; Range Check Pass Rate.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120640" cy="49377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Benchmark Test Scenarios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TC-001 (Auto collision): Correctly designated AUTO_APPROVE (Fast-track).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TC-002 (Business arson risk): Correctly routed to SIU_REFERRAL.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TC-003 (Home water damage): Correctly routed to MANUAL_REVIEW.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Net settlement ceilings independently validated against financial invariants.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Full test suite passing with comprehensive automated unit, RAG, evaluation harness, and API tests.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3C5FD"/>
                </a:solidFill>
              </a:defRPr>
            </a:pPr>
            <a:r>
              <a:t>CAPSTONE PROJECT: CLAIMLENS AI CLAIMS ASSISTANT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Conclusion &amp; Project Deliverables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120640" cy="4937760"/>
          </a:xfrm>
          <a:prstGeom prst="rect">
            <a:avLst/>
          </a:prstGeom>
          <a:solidFill>
            <a:srgbClr val="EFF6FF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Mandatory Deliverables Status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Complete Source Code in clean modular layout (FastAPI + Streamlit).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Architecture Diagram (architecture/Architecture_Diagram.pdf).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Design Document (design/Design_Document.pdf).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API Documentation (docs/API_Documentation.pdf).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Dataset Details (docs/Dataset_Details.pdf).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Evaluation Report (docs/Evaluation_Report.pdf).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Presentation Deck (presentation/Project_Presentation.pptx).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120640" cy="49377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Business Impact &amp; Next Steps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Reduces routine claims processing time from days to minutes.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Provides transparent, explainable fraud detection checkpoints.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Continuous improvement through human-in-the-loop feedback store.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Ready for enterprise deployment via Docker / Kubernetes.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Production-grade engineering built for FTE conversion success.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